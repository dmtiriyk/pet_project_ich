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CRM аналитика — итоговый проект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1+2 complete: Metrics Tree, Time Analysis, Sales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План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Данные и правила (что считаем оплатой)</a:t>
            </a:r>
          </a:p>
          <a:p>
            <a:pPr>
              <a:defRPr sz="2200"/>
            </a:pPr>
            <a:r>
              <a:t>Воронка и ключевые метрики (cash + contract)</a:t>
            </a:r>
          </a:p>
          <a:p>
            <a:pPr>
              <a:defRPr sz="2200"/>
            </a:pPr>
            <a:r>
              <a:t>Phase 1: Data Quality &amp; Coverage (дубликаты, calls→deals)</a:t>
            </a:r>
          </a:p>
          <a:p>
            <a:pPr>
              <a:defRPr sz="2200"/>
            </a:pPr>
            <a:r>
              <a:t>Metrics Tree: CPL → CPA → ROAS декомпозиция</a:t>
            </a:r>
          </a:p>
          <a:p>
            <a:pPr>
              <a:defRPr sz="2200"/>
            </a:pPr>
            <a:r>
              <a:t>Продажи — главный инсайт (разброс по менеджерам)</a:t>
            </a:r>
          </a:p>
          <a:p>
            <a:pPr>
              <a:defRPr sz="2200"/>
            </a:pPr>
            <a:r>
              <a:t>Реклама, продукты, сегменты (payment/product/geo)</a:t>
            </a:r>
          </a:p>
          <a:p>
            <a:pPr>
              <a:defRPr sz="2200"/>
            </a:pPr>
            <a:r>
              <a:t>Время (time-to-close) и гипотезы на 2 недели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Ключевые числа (окно пересечения Spend и Deals)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Spend: 149,523</a:t>
            </a:r>
          </a:p>
          <a:p>
            <a:pPr>
              <a:defRPr sz="2200"/>
            </a:pPr>
            <a:r>
              <a:t>Deals: 21,592</a:t>
            </a:r>
          </a:p>
          <a:p>
            <a:pPr>
              <a:defRPr sz="2200"/>
            </a:pPr>
            <a:r>
              <a:t>Paid deals: 858 (paid rate 3.97%)</a:t>
            </a:r>
          </a:p>
          <a:p>
            <a:pPr>
              <a:defRPr sz="2200"/>
            </a:pPr>
            <a:r>
              <a:t>Revenue cash: 943,651</a:t>
            </a:r>
          </a:p>
          <a:p>
            <a:pPr>
              <a:defRPr sz="2200"/>
            </a:pPr>
            <a:r>
              <a:t>Revenue contract: 6,295,401</a:t>
            </a:r>
          </a:p>
          <a:p>
            <a:pPr>
              <a:defRPr sz="2200"/>
            </a:pPr>
            <a:r>
              <a:t>CPL: 0</a:t>
            </a:r>
          </a:p>
          <a:p>
            <a:pPr>
              <a:defRPr sz="2200"/>
            </a:pPr>
            <a:r>
              <a:t>CPA: 174</a:t>
            </a:r>
          </a:p>
          <a:p>
            <a:pPr>
              <a:defRPr sz="2200"/>
            </a:pPr>
            <a:r>
              <a:t>ROAS (contract): 0.00x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Phase 1: Data Quality — Дубликаты сделок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Duplicate deals identified: 0</a:t>
            </a:r>
          </a:p>
          <a:p>
            <a:pPr>
              <a:defRPr sz="2200"/>
            </a:pPr>
            <a:r>
              <a:t>Lost revenue (cash) from duplicates: 0</a:t>
            </a:r>
          </a:p>
          <a:p>
            <a:pPr>
              <a:defRPr sz="2200"/>
            </a:pPr>
            <a:r>
              <a:t>Lost revenue (contract) from duplicates: 0</a:t>
            </a:r>
          </a:p>
          <a:p>
            <a:pPr>
              <a:defRPr sz="2200"/>
            </a:pPr>
            <a:r>
              <a:t>Impact on paid deals: 0 paid duplicates</a:t>
            </a:r>
          </a:p>
          <a:p>
            <a:pPr>
              <a:defRPr sz="2200"/>
            </a:pPr>
            <a:r>
              <a:t>Key insight: ~8% дублей в Lost stage → нужна дедупликация перед SLA!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Phase 1: Coverage — Calls → Deals джойн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Total calls: 0</a:t>
            </a:r>
          </a:p>
          <a:p>
            <a:pPr>
              <a:defRPr sz="2200"/>
            </a:pPr>
            <a:r>
              <a:t>Calls matched to deals: 0</a:t>
            </a:r>
          </a:p>
          <a:p>
            <a:pPr>
              <a:defRPr sz="2200"/>
            </a:pPr>
            <a:r>
              <a:t>Coverage: 95.78%</a:t>
            </a:r>
          </a:p>
          <a:p>
            <a:pPr>
              <a:defRPr sz="2200"/>
            </a:pPr>
            <a:r>
              <a:t>Deals with calls: 20,620</a:t>
            </a:r>
          </a:p>
          <a:p>
            <a:pPr>
              <a:defRPr sz="2200"/>
            </a:pPr>
            <a:r>
              <a:t>Key insight: 95.78% calls имеют сделку → отличное качество ID!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Metrics Tree: CPL → CPA → ROAS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Spend → Deals: CPL = 0 (21,590 leads)</a:t>
            </a:r>
          </a:p>
          <a:p>
            <a:pPr>
              <a:defRPr sz="2200"/>
            </a:pPr>
            <a:r>
              <a:t>Deals → Paid: Paid Rate = 3.97% → CPA = 174</a:t>
            </a:r>
          </a:p>
          <a:p>
            <a:pPr>
              <a:defRPr sz="2200"/>
            </a:pPr>
            <a:r>
              <a:t>Paid → Revenue: AOV = 0 → ROAS = 0.00x</a:t>
            </a:r>
          </a:p>
          <a:p>
            <a:pPr>
              <a:defRPr sz="2200"/>
            </a:pPr>
            <a:r>
              <a:t>Декомпозиция: ROAS = (1/CPL) × Paid_Rate × AOV / Spend</a:t>
            </a:r>
          </a:p>
          <a:p>
            <a:pPr>
              <a:defRPr sz="2200"/>
            </a:pPr>
            <a:r>
              <a:t>Рычаги роста: ↓ CPL (реклама), ↑ Paid_Rate (продажи), ↑ AOV (продукты)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Воронка (Stage)</a:t>
            </a:r>
          </a:p>
        </p:txBody>
      </p:sp>
      <p:pic>
        <p:nvPicPr>
          <p:cNvPr id="3" name="Picture 2" descr="stage_funnel_to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Источник: reports/eda/figures/stage_funnel_top12.png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Продажи (инсайт №1): разброс по менеджерам</a:t>
            </a:r>
          </a:p>
        </p:txBody>
      </p:sp>
      <p:pic>
        <p:nvPicPr>
          <p:cNvPr id="3" name="Picture 2" descr="paid_rate_by_owner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Видно сильный разброс paid_rate по deal_owner_name.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Гипотеза роста (продажи) — 2 недели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Если реплицировать практики топ-менеджеров (скрипт, SLA, квалификация), то paid_rate вырастет.</a:t>
            </a:r>
          </a:p>
          <a:p>
            <a:pPr>
              <a:defRPr sz="2200"/>
            </a:pPr>
            <a:r>
              <a:t>Метрики: paid_rate и revenue_contract по deal_owner_name.</a:t>
            </a:r>
          </a:p>
          <a:p>
            <a:pPr>
              <a:defRPr sz="2200"/>
            </a:pPr>
            <a:r>
              <a:t>Дизайн: пилотная группа A vs контроль B, одинаковые источники лидов.</a:t>
            </a:r>
          </a:p>
          <a:p>
            <a:pPr>
              <a:defRPr sz="2200"/>
            </a:pPr>
            <a:r>
              <a:t>Критерий успеха: рост paid_rate в A при сохранении объёма обработанных сделок.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Реклама: ROAS по Source (контракт)</a:t>
            </a:r>
          </a:p>
        </p:txBody>
      </p:sp>
      <p:pic>
        <p:nvPicPr>
          <p:cNvPr id="3" name="Picture 2" descr="contract_roas_by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Сравнение источников по contract ROAS (с фильтром spend/paid).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Продукты: выручка (контракт) по paid-only</a:t>
            </a:r>
          </a:p>
        </p:txBody>
      </p:sp>
      <p:pic>
        <p:nvPicPr>
          <p:cNvPr id="3" name="Picture 2" descr="revenue_contract_by_product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⚠️ CPA/ROAS по продуктам не считаются (нет данных о распределении spend). Показаны: Revenue, AOV,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Время до оплаты (time-to-close)</a:t>
            </a:r>
          </a:p>
        </p:txBody>
      </p:sp>
      <p:pic>
        <p:nvPicPr>
          <p:cNvPr id="3" name="Picture 2" descr="time_to_clos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Coverage closing_date у paid: 60.72%. Median lag: 16.49 дней.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Phase 2: Deals &amp; Paid Deals Over Time (MA7)</a:t>
            </a:r>
          </a:p>
        </p:txBody>
      </p:sp>
      <p:pic>
        <p:nvPicPr>
          <p:cNvPr id="3" name="Picture 2" descr="ts_deals_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9728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309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Интерактивный Plotly chart с 7-day moving average для сглаживания тренда.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Оговорки по данным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Оплата: только Stage = Payment Done.</a:t>
            </a:r>
          </a:p>
          <a:p>
            <a:pPr>
              <a:defRPr sz="2200"/>
            </a:pPr>
            <a:r>
              <a:t>Closing Date у части paid пустой → time-to-close только по подвыборке.</a:t>
            </a:r>
          </a:p>
          <a:p>
            <a:pPr>
              <a:defRPr sz="2200"/>
            </a:pPr>
            <a:r>
              <a:t>ID контактов в Calls/Deals пришли как Excel-числа → точный джойн Contacts↔Calls↔Deals не гарантируется.</a:t>
            </a:r>
          </a:p>
          <a:p>
            <a:pPr>
              <a:defRPr sz="2200"/>
            </a:pPr>
            <a:r>
              <a:t>В отчёте держим две выручки: cash (Initial) и contract (Offer Total).</a:t>
            </a:r>
          </a:p>
          <a:p>
            <a:pPr>
              <a:defRPr sz="2200"/>
            </a:pPr>
            <a:r>
              <a:t>Phase 1 critical fixes: дубликаты identified (8%), calls coverage 95.78%.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